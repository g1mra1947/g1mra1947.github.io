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9906000" cy="6858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25" autoAdjust="0"/>
    <p:restoredTop sz="94660"/>
  </p:normalViewPr>
  <p:slideViewPr>
    <p:cSldViewPr snapToGrid="0">
      <p:cViewPr varScale="1">
        <p:scale>
          <a:sx n="123" d="100"/>
          <a:sy n="123" d="100"/>
        </p:scale>
        <p:origin x="120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7BE496-7867-4796-A38F-5EDD24FCDB8B}" type="datetimeFigureOut">
              <a:rPr lang="en-GB" smtClean="0"/>
              <a:t>15/07/2026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1C444B-E72E-49B6-84BE-C97E24F653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76168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7BE496-7867-4796-A38F-5EDD24FCDB8B}" type="datetimeFigureOut">
              <a:rPr lang="en-GB" smtClean="0"/>
              <a:t>15/07/2026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1C444B-E72E-49B6-84BE-C97E24F653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5714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7BE496-7867-4796-A38F-5EDD24FCDB8B}" type="datetimeFigureOut">
              <a:rPr lang="en-GB" smtClean="0"/>
              <a:t>15/07/2026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1C444B-E72E-49B6-84BE-C97E24F653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09353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7BE496-7867-4796-A38F-5EDD24FCDB8B}" type="datetimeFigureOut">
              <a:rPr lang="en-GB" smtClean="0"/>
              <a:t>15/07/2026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1C444B-E72E-49B6-84BE-C97E24F653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54131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7BE496-7867-4796-A38F-5EDD24FCDB8B}" type="datetimeFigureOut">
              <a:rPr lang="en-GB" smtClean="0"/>
              <a:t>15/07/2026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1C444B-E72E-49B6-84BE-C97E24F653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263020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7BE496-7867-4796-A38F-5EDD24FCDB8B}" type="datetimeFigureOut">
              <a:rPr lang="en-GB" smtClean="0"/>
              <a:t>15/07/2026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1C444B-E72E-49B6-84BE-C97E24F653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66776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7BE496-7867-4796-A38F-5EDD24FCDB8B}" type="datetimeFigureOut">
              <a:rPr lang="en-GB" smtClean="0"/>
              <a:t>15/07/2026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1C444B-E72E-49B6-84BE-C97E24F653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54721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7BE496-7867-4796-A38F-5EDD24FCDB8B}" type="datetimeFigureOut">
              <a:rPr lang="en-GB" smtClean="0"/>
              <a:t>15/07/2026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1C444B-E72E-49B6-84BE-C97E24F653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001061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7BE496-7867-4796-A38F-5EDD24FCDB8B}" type="datetimeFigureOut">
              <a:rPr lang="en-GB" smtClean="0"/>
              <a:t>15/07/2026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1C444B-E72E-49B6-84BE-C97E24F653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95932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7BE496-7867-4796-A38F-5EDD24FCDB8B}" type="datetimeFigureOut">
              <a:rPr lang="en-GB" smtClean="0"/>
              <a:t>15/07/2026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1C444B-E72E-49B6-84BE-C97E24F653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24588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7BE496-7867-4796-A38F-5EDD24FCDB8B}" type="datetimeFigureOut">
              <a:rPr lang="en-GB" smtClean="0"/>
              <a:t>15/07/2026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1C444B-E72E-49B6-84BE-C97E24F653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30152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77BE496-7867-4796-A38F-5EDD24FCDB8B}" type="datetimeFigureOut">
              <a:rPr lang="en-GB" smtClean="0"/>
              <a:t>15/07/2026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41C444B-E72E-49B6-84BE-C97E24F653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89754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Picture 32" descr="The image shows a model train station with three black steam locomotives on a track.&#10;&#10;AI-generated content may be incorrect.">
            <a:extLst>
              <a:ext uri="{FF2B5EF4-FFF2-40B4-BE49-F238E27FC236}">
                <a16:creationId xmlns:a16="http://schemas.microsoft.com/office/drawing/2014/main" id="{AA436C4D-81A4-EB64-4C51-99594882A7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2141" y="3777890"/>
            <a:ext cx="2029920" cy="1438988"/>
          </a:xfrm>
          <a:prstGeom prst="rect">
            <a:avLst/>
          </a:prstGeom>
          <a:effectLst>
            <a:softEdge rad="31750"/>
          </a:effectLst>
        </p:spPr>
      </p:pic>
      <p:pic>
        <p:nvPicPr>
          <p:cNvPr id="7" name="Picture 2" descr="GAUGE ONE&#10;&#10;AI-generated content may be incorrect.">
            <a:extLst>
              <a:ext uri="{FF2B5EF4-FFF2-40B4-BE49-F238E27FC236}">
                <a16:creationId xmlns:a16="http://schemas.microsoft.com/office/drawing/2014/main" id="{1FA44CBD-0951-C283-40E4-79258689F9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60272" y="36939"/>
            <a:ext cx="732063" cy="732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69C1D85-28CC-3D23-1102-BBC500CBA84D}"/>
              </a:ext>
            </a:extLst>
          </p:cNvPr>
          <p:cNvSpPr txBox="1"/>
          <p:nvPr/>
        </p:nvSpPr>
        <p:spPr>
          <a:xfrm>
            <a:off x="1156023" y="68607"/>
            <a:ext cx="277037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b="1" dirty="0">
                <a:solidFill>
                  <a:schemeClr val="accent6">
                    <a:lumMod val="75000"/>
                  </a:schemeClr>
                </a:solidFill>
              </a:rPr>
              <a:t>The Gauge One Model </a:t>
            </a:r>
          </a:p>
          <a:p>
            <a:pPr algn="ctr"/>
            <a:r>
              <a:rPr lang="en-GB" sz="2000" b="1" dirty="0">
                <a:solidFill>
                  <a:schemeClr val="accent6">
                    <a:lumMod val="75000"/>
                  </a:schemeClr>
                </a:solidFill>
              </a:rPr>
              <a:t>Railway Association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E24D69E-DE92-E9EB-AD87-073E4F12371F}"/>
              </a:ext>
            </a:extLst>
          </p:cNvPr>
          <p:cNvSpPr txBox="1"/>
          <p:nvPr/>
        </p:nvSpPr>
        <p:spPr>
          <a:xfrm>
            <a:off x="251736" y="5224866"/>
            <a:ext cx="4502499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/>
              <a:t>The size of Gauge 1 models allows for exquisite levels of detail in fine-scale models, and the availability of robust, simplified models also makes it an ideal scale for youngsters. </a:t>
            </a:r>
          </a:p>
          <a:p>
            <a:endParaRPr lang="en-GB" sz="1200" dirty="0"/>
          </a:p>
          <a:p>
            <a:r>
              <a:rPr lang="en-GB" sz="1200" dirty="0"/>
              <a:t>You can read about the breadth of activity within G1MRA by downloading copies of our welcome brochure and our quarterly magazine from</a:t>
            </a:r>
          </a:p>
        </p:txBody>
      </p:sp>
      <p:pic>
        <p:nvPicPr>
          <p:cNvPr id="3" name="Picture 2" descr="GAUGE ONE&#10;&#10;AI-generated content may be incorrect.">
            <a:extLst>
              <a:ext uri="{FF2B5EF4-FFF2-40B4-BE49-F238E27FC236}">
                <a16:creationId xmlns:a16="http://schemas.microsoft.com/office/drawing/2014/main" id="{1942AF81-188A-C4F1-B4CF-5B6F880A29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767" y="41214"/>
            <a:ext cx="732063" cy="732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9D2BE64-03B2-8D7B-57FB-7943DB6140ED}"/>
              </a:ext>
            </a:extLst>
          </p:cNvPr>
          <p:cNvSpPr txBox="1"/>
          <p:nvPr/>
        </p:nvSpPr>
        <p:spPr>
          <a:xfrm>
            <a:off x="212733" y="957150"/>
            <a:ext cx="45024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/>
              <a:t>Gauge 1 model railways run on tracks where the rails are 45mm or 1¾ inches apart. For standard gauge, this corresponds to a scale of 1:32 or around 10mm to the foot.</a:t>
            </a:r>
          </a:p>
        </p:txBody>
      </p:sp>
      <p:pic>
        <p:nvPicPr>
          <p:cNvPr id="12" name="Picture 11" descr="The image shows a black, vintage steam locomotive, with red and green colors, on a track surrounded by green trees.&#10;&#10;AI-generated content may be incorrect.">
            <a:extLst>
              <a:ext uri="{FF2B5EF4-FFF2-40B4-BE49-F238E27FC236}">
                <a16:creationId xmlns:a16="http://schemas.microsoft.com/office/drawing/2014/main" id="{16CB4EF2-6923-FCBD-D61F-C9FA5D8DC3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7236" y="1640616"/>
            <a:ext cx="4103963" cy="1348051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38BD6900-6992-19CF-4224-7EE3E1F718DF}"/>
              </a:ext>
            </a:extLst>
          </p:cNvPr>
          <p:cNvSpPr txBox="1"/>
          <p:nvPr/>
        </p:nvSpPr>
        <p:spPr>
          <a:xfrm>
            <a:off x="244116" y="3030822"/>
            <a:ext cx="45024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/>
              <a:t>We run models powered by on-board batteries, by track-supplied current and by live steam with boilers fired by alcohol, gas or coal. </a:t>
            </a:r>
          </a:p>
          <a:p>
            <a:r>
              <a:rPr lang="en-GB" sz="1200" dirty="0"/>
              <a:t>Even clockwork engines still make occasional appearances.</a:t>
            </a:r>
          </a:p>
        </p:txBody>
      </p:sp>
      <p:pic>
        <p:nvPicPr>
          <p:cNvPr id="29" name="Picture 28" descr="The image shows two people standing next to a display of various small, detailed model trains, including a blue locomotive and several yellow ones, on a platform with informational posters.&#10;&#10;AI-generated content may be incorrect.">
            <a:extLst>
              <a:ext uri="{FF2B5EF4-FFF2-40B4-BE49-F238E27FC236}">
                <a16:creationId xmlns:a16="http://schemas.microsoft.com/office/drawing/2014/main" id="{84A250DB-6880-7128-208C-1260C9EEEED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5314" y="3759991"/>
            <a:ext cx="1373566" cy="1331375"/>
          </a:xfrm>
          <a:prstGeom prst="rect">
            <a:avLst/>
          </a:prstGeom>
          <a:effectLst>
            <a:softEdge rad="31750"/>
          </a:effectLst>
        </p:spPr>
      </p:pic>
      <p:pic>
        <p:nvPicPr>
          <p:cNvPr id="31" name="Picture 30" descr="A person is operating a model train set on a wooden track, with a clear glass bottle positioned nearby.&#10;&#10;AI-generated content may be incorrect.">
            <a:extLst>
              <a:ext uri="{FF2B5EF4-FFF2-40B4-BE49-F238E27FC236}">
                <a16:creationId xmlns:a16="http://schemas.microsoft.com/office/drawing/2014/main" id="{65FB9F78-1370-D483-4B3C-383E39472B2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12061" y="3766464"/>
            <a:ext cx="988879" cy="1313314"/>
          </a:xfrm>
          <a:prstGeom prst="rect">
            <a:avLst/>
          </a:prstGeom>
          <a:effectLst>
            <a:softEdge rad="31750"/>
          </a:effectLst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0D565D48-3E12-963E-9122-4DAAFFD9BF11}"/>
              </a:ext>
            </a:extLst>
          </p:cNvPr>
          <p:cNvSpPr txBox="1"/>
          <p:nvPr/>
        </p:nvSpPr>
        <p:spPr>
          <a:xfrm>
            <a:off x="1747435" y="6409351"/>
            <a:ext cx="14958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b="1" dirty="0">
                <a:solidFill>
                  <a:schemeClr val="accent6">
                    <a:lumMod val="75000"/>
                  </a:schemeClr>
                </a:solidFill>
              </a:rPr>
              <a:t>g1mra.com</a:t>
            </a:r>
          </a:p>
        </p:txBody>
      </p:sp>
      <p:pic>
        <p:nvPicPr>
          <p:cNvPr id="37" name="Picture 36" descr="The image shows a model train station with three black steam locomotives on a track.&#10;&#10;AI-generated content may be incorrect.">
            <a:extLst>
              <a:ext uri="{FF2B5EF4-FFF2-40B4-BE49-F238E27FC236}">
                <a16:creationId xmlns:a16="http://schemas.microsoft.com/office/drawing/2014/main" id="{1A6DEF81-DE1A-D6C6-97BB-33F1131B51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5274" y="3783057"/>
            <a:ext cx="2029920" cy="1438988"/>
          </a:xfrm>
          <a:prstGeom prst="rect">
            <a:avLst/>
          </a:prstGeom>
          <a:effectLst>
            <a:softEdge rad="31750"/>
          </a:effectLst>
        </p:spPr>
      </p:pic>
      <p:pic>
        <p:nvPicPr>
          <p:cNvPr id="39" name="Picture 2" descr="GAUGE ONE&#10;&#10;AI-generated content may be incorrect.">
            <a:extLst>
              <a:ext uri="{FF2B5EF4-FFF2-40B4-BE49-F238E27FC236}">
                <a16:creationId xmlns:a16="http://schemas.microsoft.com/office/drawing/2014/main" id="{DE7C8570-2232-64F4-7852-51AD1F3B14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33405" y="42106"/>
            <a:ext cx="732063" cy="732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1" name="TextBox 40">
            <a:extLst>
              <a:ext uri="{FF2B5EF4-FFF2-40B4-BE49-F238E27FC236}">
                <a16:creationId xmlns:a16="http://schemas.microsoft.com/office/drawing/2014/main" id="{0AC8B903-F4C3-2F2C-CE70-9854FE9765F8}"/>
              </a:ext>
            </a:extLst>
          </p:cNvPr>
          <p:cNvSpPr txBox="1"/>
          <p:nvPr/>
        </p:nvSpPr>
        <p:spPr>
          <a:xfrm>
            <a:off x="6229156" y="73774"/>
            <a:ext cx="277037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b="1" dirty="0">
                <a:solidFill>
                  <a:schemeClr val="accent6">
                    <a:lumMod val="75000"/>
                  </a:schemeClr>
                </a:solidFill>
              </a:rPr>
              <a:t>The Gauge One Model </a:t>
            </a:r>
          </a:p>
          <a:p>
            <a:pPr algn="ctr"/>
            <a:r>
              <a:rPr lang="en-GB" sz="2000" b="1" dirty="0">
                <a:solidFill>
                  <a:schemeClr val="accent6">
                    <a:lumMod val="75000"/>
                  </a:schemeClr>
                </a:solidFill>
              </a:rPr>
              <a:t>Railway Association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6CE019E-C23E-E317-43D4-BC82A7628193}"/>
              </a:ext>
            </a:extLst>
          </p:cNvPr>
          <p:cNvSpPr txBox="1"/>
          <p:nvPr/>
        </p:nvSpPr>
        <p:spPr>
          <a:xfrm>
            <a:off x="5324869" y="5230033"/>
            <a:ext cx="4502499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/>
              <a:t>The size of Gauge 1 models allows for exquisite levels of detail in fine-scale models, and the availability of robust, simplified models also makes it an ideal scale for youngsters. </a:t>
            </a:r>
          </a:p>
          <a:p>
            <a:endParaRPr lang="en-GB" sz="1200" dirty="0"/>
          </a:p>
          <a:p>
            <a:r>
              <a:rPr lang="en-GB" sz="1200" dirty="0"/>
              <a:t>You can read about the breadth of activity within G1MRA by downloading copies of our welcome brochure and our quarterly magazine from</a:t>
            </a:r>
          </a:p>
        </p:txBody>
      </p:sp>
      <p:pic>
        <p:nvPicPr>
          <p:cNvPr id="45" name="Picture 44" descr="GAUGE ONE&#10;&#10;AI-generated content may be incorrect.">
            <a:extLst>
              <a:ext uri="{FF2B5EF4-FFF2-40B4-BE49-F238E27FC236}">
                <a16:creationId xmlns:a16="http://schemas.microsoft.com/office/drawing/2014/main" id="{A2B164D5-CED6-136F-5EC0-ECF84440EF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72900" y="46381"/>
            <a:ext cx="732063" cy="732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7" name="TextBox 46">
            <a:extLst>
              <a:ext uri="{FF2B5EF4-FFF2-40B4-BE49-F238E27FC236}">
                <a16:creationId xmlns:a16="http://schemas.microsoft.com/office/drawing/2014/main" id="{FA05C096-83D6-287B-49B1-2ECCCDBEFA60}"/>
              </a:ext>
            </a:extLst>
          </p:cNvPr>
          <p:cNvSpPr txBox="1"/>
          <p:nvPr/>
        </p:nvSpPr>
        <p:spPr>
          <a:xfrm>
            <a:off x="5285866" y="962317"/>
            <a:ext cx="45024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/>
              <a:t>Gauge 1 model railways run on tracks where the rails are 45mm or 1¾ inches apart. For standard gauge, this corresponds to a scale of 1:32 or around 10mm to the foot.</a:t>
            </a:r>
          </a:p>
        </p:txBody>
      </p:sp>
      <p:pic>
        <p:nvPicPr>
          <p:cNvPr id="49" name="Picture 48" descr="The image shows a black, vintage steam locomotive, with red and green colors, on a track surrounded by green trees.&#10;&#10;AI-generated content may be incorrect.">
            <a:extLst>
              <a:ext uri="{FF2B5EF4-FFF2-40B4-BE49-F238E27FC236}">
                <a16:creationId xmlns:a16="http://schemas.microsoft.com/office/drawing/2014/main" id="{FDE9769F-626D-F763-436C-C287A64090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00369" y="1645783"/>
            <a:ext cx="4103963" cy="1348051"/>
          </a:xfrm>
          <a:prstGeom prst="rect">
            <a:avLst/>
          </a:prstGeom>
        </p:spPr>
      </p:pic>
      <p:sp>
        <p:nvSpPr>
          <p:cNvPr id="51" name="TextBox 50">
            <a:extLst>
              <a:ext uri="{FF2B5EF4-FFF2-40B4-BE49-F238E27FC236}">
                <a16:creationId xmlns:a16="http://schemas.microsoft.com/office/drawing/2014/main" id="{BCCBA596-B699-BBF6-48DB-B31A72E58012}"/>
              </a:ext>
            </a:extLst>
          </p:cNvPr>
          <p:cNvSpPr txBox="1"/>
          <p:nvPr/>
        </p:nvSpPr>
        <p:spPr>
          <a:xfrm>
            <a:off x="5317249" y="3035989"/>
            <a:ext cx="45024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/>
              <a:t>We run models powered by on-board batteries, by track-supplied current and by live steam with boilers fired by alcohol, gas or coal. </a:t>
            </a:r>
          </a:p>
          <a:p>
            <a:r>
              <a:rPr lang="en-GB" sz="1200" dirty="0"/>
              <a:t>Even clockwork engines still make occasional appearances.</a:t>
            </a:r>
          </a:p>
        </p:txBody>
      </p:sp>
      <p:pic>
        <p:nvPicPr>
          <p:cNvPr id="53" name="Picture 52" descr="The image shows two people standing next to a display of various small, detailed model trains, including a blue locomotive and several yellow ones, on a platform with informational posters.&#10;&#10;AI-generated content may be incorrect.">
            <a:extLst>
              <a:ext uri="{FF2B5EF4-FFF2-40B4-BE49-F238E27FC236}">
                <a16:creationId xmlns:a16="http://schemas.microsoft.com/office/drawing/2014/main" id="{E2B5A825-BF66-A170-A20E-C99EA7BE41A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78447" y="3765158"/>
            <a:ext cx="1373566" cy="1331375"/>
          </a:xfrm>
          <a:prstGeom prst="rect">
            <a:avLst/>
          </a:prstGeom>
          <a:effectLst>
            <a:softEdge rad="31750"/>
          </a:effectLst>
        </p:spPr>
      </p:pic>
      <p:pic>
        <p:nvPicPr>
          <p:cNvPr id="55" name="Picture 54" descr="A person is operating a model train set on a wooden track, with a clear glass bottle positioned nearby.&#10;&#10;AI-generated content may be incorrect.">
            <a:extLst>
              <a:ext uri="{FF2B5EF4-FFF2-40B4-BE49-F238E27FC236}">
                <a16:creationId xmlns:a16="http://schemas.microsoft.com/office/drawing/2014/main" id="{48DA6489-D7F5-0231-4E35-753488A7C6F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85194" y="3771631"/>
            <a:ext cx="988879" cy="1313314"/>
          </a:xfrm>
          <a:prstGeom prst="rect">
            <a:avLst/>
          </a:prstGeom>
          <a:effectLst>
            <a:softEdge rad="31750"/>
          </a:effectLst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6F024B74-266C-7F3C-4B4F-A182B31999CD}"/>
              </a:ext>
            </a:extLst>
          </p:cNvPr>
          <p:cNvSpPr txBox="1"/>
          <p:nvPr/>
        </p:nvSpPr>
        <p:spPr>
          <a:xfrm>
            <a:off x="6820568" y="6414518"/>
            <a:ext cx="14958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b="1" dirty="0">
                <a:solidFill>
                  <a:schemeClr val="accent6">
                    <a:lumMod val="75000"/>
                  </a:schemeClr>
                </a:solidFill>
              </a:rPr>
              <a:t>g1mra.com</a:t>
            </a:r>
          </a:p>
        </p:txBody>
      </p:sp>
    </p:spTree>
    <p:extLst>
      <p:ext uri="{BB962C8B-B14F-4D97-AF65-F5344CB8AC3E}">
        <p14:creationId xmlns:p14="http://schemas.microsoft.com/office/powerpoint/2010/main" val="20685256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67</TotalTime>
  <Words>266</Words>
  <Application>Microsoft Office PowerPoint</Application>
  <PresentationFormat>A4 Paper (210x297 mm)</PresentationFormat>
  <Paragraphs>18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Johnstone, A</dc:creator>
  <cp:lastModifiedBy>Johnstone, A</cp:lastModifiedBy>
  <cp:revision>4</cp:revision>
  <dcterms:created xsi:type="dcterms:W3CDTF">2026-07-08T12:56:10Z</dcterms:created>
  <dcterms:modified xsi:type="dcterms:W3CDTF">2026-07-15T06:38:52Z</dcterms:modified>
</cp:coreProperties>
</file>